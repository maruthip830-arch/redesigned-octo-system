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I'm thrilled to introduce you to AstraRent—a platform that completely reimagines how individuals and enterprises deploy hardware. We aren't just renting laptops; we've built a real-time, cryptographically secure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hardware rental industry is broken. It relies on PDFs, manual passport checks, and outdated inventory spreadsheets. It takes days to provision a laptop. We realized we could reduce this to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AstraRent solves this by bringing the entire pipeline into a single, seamless web application. From the moment a user browses the catalog, to the exact second the administration team approves the dispatch, everything happens in real-time.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architecture. We utilized React and Vite to ensure the storefront is radically fast. We completely avoided heavy CSS frameworks, instead custom-writing our own glassmorphism design system to ensure the payload remains minimal and visually spectacular.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AstraRent separates from the pack. Our checkout isn't just a form. When a user uploads their Aadhaar ID, our system runs an AI Neural Network directly in the browser using Tesseract.js. It reads the image, verifies the digits, and fires a secure 6-digit OTP to their email in seconds. No human intervention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gorgeous UI is a heavy-duty backend built on Google Firebase. When an order is placed on a smartphone in Tokyo, the cloud synchronizes that transaction to the central database in under 200 milliseconds without refreshing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business operators, we built the Executive Command Center. This is a highly protected route that admins can access from anywhere. It streams the live checkout feed and active fleet contracts directly to the dashboard. You watch your business run natively.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just telling you, I want to show you. [Pull out your phone, place an order live on screen, and show the Command Center updating instantly on the projector].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AstraRent is completely operational, but this is just Phase 1. Moving forward, we are integrating physical device tracking and automated courier dispatch. We are building the infrastructure for the future of enterprise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AstraRent is currently live on the Vercel Edge Network. I'd be happy to take any technical or operational questions from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lgn="ctr" indent="0" marL="0">
              <a:buNone/>
            </a:pPr>
            <a:r>
              <a:rPr lang="en-US" sz="6000" b="1" dirty="0">
                <a:solidFill>
                  <a:srgbClr val="FFFFFF"/>
                </a:solidFill>
              </a:rPr>
              <a:t>AstraRent</a:t>
            </a:r>
            <a:endParaRPr lang="en-US" sz="6000" dirty="0"/>
          </a:p>
        </p:txBody>
      </p:sp>
      <p:sp>
        <p:nvSpPr>
          <p:cNvPr id="3" name="Text 1"/>
          <p:cNvSpPr/>
          <p:nvPr/>
        </p:nvSpPr>
        <p:spPr>
          <a:xfrm>
            <a:off x="914400" y="2286000"/>
            <a:ext cx="7315200" cy="914400"/>
          </a:xfrm>
          <a:prstGeom prst="rect">
            <a:avLst/>
          </a:prstGeom>
          <a:noFill/>
          <a:ln/>
        </p:spPr>
        <p:txBody>
          <a:bodyPr wrap="square" rtlCol="0" anchor="ctr"/>
          <a:lstStyle/>
          <a:p>
            <a:pPr algn="ctr" indent="0" marL="0">
              <a:buNone/>
            </a:pPr>
            <a:r>
              <a:rPr lang="en-US" sz="2800" dirty="0">
                <a:solidFill>
                  <a:srgbClr val="888888"/>
                </a:solidFill>
              </a:rPr>
              <a:t>Redefining Enterprise Hardware Leasing through Edge Computing</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3600" b="1" dirty="0">
                <a:solidFill>
                  <a:srgbClr val="363636"/>
                </a:solidFill>
              </a:rPr>
              <a:t>The Problem</a:t>
            </a:r>
            <a:endParaRPr lang="en-US" sz="3600" dirty="0"/>
          </a:p>
        </p:txBody>
      </p:sp>
      <p:sp>
        <p:nvSpPr>
          <p:cNvPr id="3" name="Text 1"/>
          <p:cNvSpPr/>
          <p:nvPr/>
        </p:nvSpPr>
        <p:spPr>
          <a:xfrm>
            <a:off x="457200" y="1645920"/>
            <a:ext cx="8229600" cy="0"/>
          </a:xfrm>
          <a:prstGeom prst="rect">
            <a:avLst/>
          </a:prstGeom>
          <a:noFill/>
          <a:ln/>
        </p:spPr>
        <p:txBody>
          <a:bodyPr wrap="square" lIns="190500" tIns="190500" rIns="190500" bIns="190500" rtlCol="0" anchor="ctr"/>
          <a:lstStyle/>
          <a:p>
            <a:pPr marL="342900" indent="-342900">
              <a:lnSpc>
                <a:spcPts val="4000"/>
              </a:lnSpc>
              <a:buSzPct val="100000"/>
              <a:buChar char="•"/>
            </a:pPr>
            <a:r>
              <a:rPr lang="en-US" sz="2400" dirty="0">
                <a:solidFill>
                  <a:srgbClr val="444444"/>
                </a:solidFill>
              </a:rPr>
              <a:t>Traditional rentals are slow and require manual paperwork.</a:t>
            </a:r>
            <a:pPr indent="0" marL="0">
              <a:lnSpc>
                <a:spcPts val="4000"/>
              </a:lnSpc>
              <a:buNone/>
            </a:pPr>
            <a:r>
              <a:rPr lang="en-US" sz="2400" dirty="0">
                <a:solidFill>
                  <a:srgbClr val="444444"/>
                </a:solidFill>
              </a:rPr>
              <a:t>Security and identity verification (KYC) are heavily fragmented.</a:t>
            </a:r>
            <a:pPr indent="0" marL="0">
              <a:lnSpc>
                <a:spcPts val="4000"/>
              </a:lnSpc>
              <a:buNone/>
            </a:pPr>
            <a:r>
              <a:rPr lang="en-US" sz="2400" dirty="0">
                <a:solidFill>
                  <a:srgbClr val="444444"/>
                </a:solidFill>
              </a:rPr>
              <a:t>Tracking live deployed fleet inventories is nearly impossible for administrators.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3600" b="1" dirty="0">
                <a:solidFill>
                  <a:srgbClr val="363636"/>
                </a:solidFill>
              </a:rPr>
              <a:t>The AstraRent Solution</a:t>
            </a:r>
            <a:endParaRPr lang="en-US" sz="3600" dirty="0"/>
          </a:p>
        </p:txBody>
      </p:sp>
      <p:sp>
        <p:nvSpPr>
          <p:cNvPr id="3" name="Text 1"/>
          <p:cNvSpPr/>
          <p:nvPr/>
        </p:nvSpPr>
        <p:spPr>
          <a:xfrm>
            <a:off x="457200" y="1645920"/>
            <a:ext cx="8229600" cy="0"/>
          </a:xfrm>
          <a:prstGeom prst="rect">
            <a:avLst/>
          </a:prstGeom>
          <a:noFill/>
          <a:ln/>
        </p:spPr>
        <p:txBody>
          <a:bodyPr wrap="square" lIns="190500" tIns="190500" rIns="190500" bIns="190500" rtlCol="0" anchor="ctr"/>
          <a:lstStyle/>
          <a:p>
            <a:pPr marL="342900" indent="-342900">
              <a:lnSpc>
                <a:spcPts val="4000"/>
              </a:lnSpc>
              <a:buSzPct val="100000"/>
              <a:buChar char="•"/>
            </a:pPr>
            <a:r>
              <a:rPr lang="en-US" sz="2400" dirty="0">
                <a:solidFill>
                  <a:srgbClr val="444444"/>
                </a:solidFill>
              </a:rPr>
              <a:t>Zero-Friction UI: Premium dark-mode glassmorphism interface.</a:t>
            </a:r>
            <a:pPr indent="0" marL="0">
              <a:lnSpc>
                <a:spcPts val="4000"/>
              </a:lnSpc>
              <a:buNone/>
            </a:pPr>
            <a:r>
              <a:rPr lang="en-US" sz="2400" dirty="0">
                <a:solidFill>
                  <a:srgbClr val="444444"/>
                </a:solidFill>
              </a:rPr>
              <a:t>Instant Cryptographic Verification: AI-driven document scanning.</a:t>
            </a:r>
            <a:pPr indent="0" marL="0">
              <a:lnSpc>
                <a:spcPts val="4000"/>
              </a:lnSpc>
              <a:buNone/>
            </a:pPr>
            <a:r>
              <a:rPr lang="en-US" sz="2400" dirty="0">
                <a:solidFill>
                  <a:srgbClr val="444444"/>
                </a:solidFill>
              </a:rPr>
              <a:t>Edge Deployment: Globally accessible in milliseconds.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3600" b="1" dirty="0">
                <a:solidFill>
                  <a:srgbClr val="363636"/>
                </a:solidFill>
              </a:rPr>
              <a:t>Engineering the Frontend</a:t>
            </a:r>
            <a:endParaRPr lang="en-US" sz="3600" dirty="0"/>
          </a:p>
        </p:txBody>
      </p:sp>
      <p:sp>
        <p:nvSpPr>
          <p:cNvPr id="3" name="Text 1"/>
          <p:cNvSpPr/>
          <p:nvPr/>
        </p:nvSpPr>
        <p:spPr>
          <a:xfrm>
            <a:off x="457200" y="1645920"/>
            <a:ext cx="8229600" cy="0"/>
          </a:xfrm>
          <a:prstGeom prst="rect">
            <a:avLst/>
          </a:prstGeom>
          <a:noFill/>
          <a:ln/>
        </p:spPr>
        <p:txBody>
          <a:bodyPr wrap="square" lIns="190500" tIns="190500" rIns="190500" bIns="190500" rtlCol="0" anchor="ctr"/>
          <a:lstStyle/>
          <a:p>
            <a:pPr marL="342900" indent="-342900">
              <a:lnSpc>
                <a:spcPts val="4000"/>
              </a:lnSpc>
              <a:buSzPct val="100000"/>
              <a:buChar char="•"/>
            </a:pPr>
            <a:r>
              <a:rPr lang="en-US" sz="2400" dirty="0">
                <a:solidFill>
                  <a:srgbClr val="444444"/>
                </a:solidFill>
              </a:rPr>
              <a:t>Built entirely on React &amp; Vite for instantaneous component load times.</a:t>
            </a:r>
            <a:pPr indent="0" marL="0">
              <a:lnSpc>
                <a:spcPts val="4000"/>
              </a:lnSpc>
              <a:buNone/>
            </a:pPr>
            <a:r>
              <a:rPr lang="en-US" sz="2400" dirty="0">
                <a:solidFill>
                  <a:srgbClr val="444444"/>
                </a:solidFill>
              </a:rPr>
              <a:t>Vanilla CSS Architecture: No bulky frameworks, ensuring a lightweight payload.</a:t>
            </a:r>
            <a:pPr indent="0" marL="0">
              <a:lnSpc>
                <a:spcPts val="4000"/>
              </a:lnSpc>
              <a:buNone/>
            </a:pPr>
            <a:r>
              <a:rPr lang="en-US" sz="2400" dirty="0">
                <a:solidFill>
                  <a:srgbClr val="444444"/>
                </a:solidFill>
              </a:rPr>
              <a:t>Responsive by Design: Flawless experience from 4K desktop to mobile screens.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3600" b="1" dirty="0">
                <a:solidFill>
                  <a:srgbClr val="363636"/>
                </a:solidFill>
              </a:rPr>
              <a:t>Checkout Funnel &amp; AI Validation</a:t>
            </a:r>
            <a:endParaRPr lang="en-US" sz="3600" dirty="0"/>
          </a:p>
        </p:txBody>
      </p:sp>
      <p:sp>
        <p:nvSpPr>
          <p:cNvPr id="3" name="Text 1"/>
          <p:cNvSpPr/>
          <p:nvPr/>
        </p:nvSpPr>
        <p:spPr>
          <a:xfrm>
            <a:off x="457200" y="1645920"/>
            <a:ext cx="8229600" cy="0"/>
          </a:xfrm>
          <a:prstGeom prst="rect">
            <a:avLst/>
          </a:prstGeom>
          <a:noFill/>
          <a:ln/>
        </p:spPr>
        <p:txBody>
          <a:bodyPr wrap="square" lIns="190500" tIns="190500" rIns="190500" bIns="190500" rtlCol="0" anchor="ctr"/>
          <a:lstStyle/>
          <a:p>
            <a:pPr marL="342900" indent="-342900">
              <a:lnSpc>
                <a:spcPts val="4000"/>
              </a:lnSpc>
              <a:buSzPct val="100000"/>
              <a:buChar char="•"/>
            </a:pPr>
            <a:r>
              <a:rPr lang="en-US" sz="2400" dirty="0">
                <a:solidFill>
                  <a:srgbClr val="444444"/>
                </a:solidFill>
              </a:rPr>
              <a:t>Tesseract.js Neural Network: Client-side Optical Character Recognition.</a:t>
            </a:r>
            <a:pPr indent="0" marL="0">
              <a:lnSpc>
                <a:spcPts val="4000"/>
              </a:lnSpc>
              <a:buNone/>
            </a:pPr>
            <a:r>
              <a:rPr lang="en-US" sz="2400" dirty="0">
                <a:solidFill>
                  <a:srgbClr val="444444"/>
                </a:solidFill>
              </a:rPr>
              <a:t>Automated Aadhaar Matching: Extracts numerical vectors from images.</a:t>
            </a:r>
            <a:pPr indent="0" marL="0">
              <a:lnSpc>
                <a:spcPts val="4000"/>
              </a:lnSpc>
              <a:buNone/>
            </a:pPr>
            <a:r>
              <a:rPr lang="en-US" sz="2400" dirty="0">
                <a:solidFill>
                  <a:srgbClr val="444444"/>
                </a:solidFill>
              </a:rPr>
              <a:t>EmailJS Integration: Secure OTP cryptographic handshake for verification.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3600" b="1" dirty="0">
                <a:solidFill>
                  <a:srgbClr val="363636"/>
                </a:solidFill>
              </a:rPr>
              <a:t>Multi-Tenant Cloud Architecture</a:t>
            </a:r>
            <a:endParaRPr lang="en-US" sz="3600" dirty="0"/>
          </a:p>
        </p:txBody>
      </p:sp>
      <p:sp>
        <p:nvSpPr>
          <p:cNvPr id="3" name="Text 1"/>
          <p:cNvSpPr/>
          <p:nvPr/>
        </p:nvSpPr>
        <p:spPr>
          <a:xfrm>
            <a:off x="457200" y="1645920"/>
            <a:ext cx="8229600" cy="0"/>
          </a:xfrm>
          <a:prstGeom prst="rect">
            <a:avLst/>
          </a:prstGeom>
          <a:noFill/>
          <a:ln/>
        </p:spPr>
        <p:txBody>
          <a:bodyPr wrap="square" lIns="190500" tIns="190500" rIns="190500" bIns="190500" rtlCol="0" anchor="ctr"/>
          <a:lstStyle/>
          <a:p>
            <a:pPr marL="342900" indent="-342900">
              <a:lnSpc>
                <a:spcPts val="4000"/>
              </a:lnSpc>
              <a:buSzPct val="100000"/>
              <a:buChar char="•"/>
            </a:pPr>
            <a:r>
              <a:rPr lang="en-US" sz="2400" dirty="0">
                <a:solidFill>
                  <a:srgbClr val="444444"/>
                </a:solidFill>
              </a:rPr>
              <a:t>Powered by Google Cloud Firestore.</a:t>
            </a:r>
            <a:pPr indent="0" marL="0">
              <a:lnSpc>
                <a:spcPts val="4000"/>
              </a:lnSpc>
              <a:buNone/>
            </a:pPr>
            <a:r>
              <a:rPr lang="en-US" sz="2400" dirty="0">
                <a:solidFill>
                  <a:srgbClr val="444444"/>
                </a:solidFill>
              </a:rPr>
              <a:t>Real-Time Data Streams: Synchronizes data dynamically across edges.</a:t>
            </a:r>
            <a:pPr indent="0" marL="0">
              <a:lnSpc>
                <a:spcPts val="4000"/>
              </a:lnSpc>
              <a:buNone/>
            </a:pPr>
            <a:r>
              <a:rPr lang="en-US" sz="2400" dirty="0">
                <a:solidFill>
                  <a:srgbClr val="444444"/>
                </a:solidFill>
              </a:rPr>
              <a:t>State Isolation: Cryptographic JWT session validation via Firebase Auth.</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3600" b="1" dirty="0">
                <a:solidFill>
                  <a:srgbClr val="363636"/>
                </a:solidFill>
              </a:rPr>
              <a:t>The Executive Command Center</a:t>
            </a:r>
            <a:endParaRPr lang="en-US" sz="3600" dirty="0"/>
          </a:p>
        </p:txBody>
      </p:sp>
      <p:sp>
        <p:nvSpPr>
          <p:cNvPr id="3" name="Text 1"/>
          <p:cNvSpPr/>
          <p:nvPr/>
        </p:nvSpPr>
        <p:spPr>
          <a:xfrm>
            <a:off x="457200" y="1645920"/>
            <a:ext cx="8229600" cy="0"/>
          </a:xfrm>
          <a:prstGeom prst="rect">
            <a:avLst/>
          </a:prstGeom>
          <a:noFill/>
          <a:ln/>
        </p:spPr>
        <p:txBody>
          <a:bodyPr wrap="square" lIns="190500" tIns="190500" rIns="190500" bIns="190500" rtlCol="0" anchor="ctr"/>
          <a:lstStyle/>
          <a:p>
            <a:pPr marL="342900" indent="-342900">
              <a:lnSpc>
                <a:spcPts val="4000"/>
              </a:lnSpc>
              <a:buSzPct val="100000"/>
              <a:buChar char="•"/>
            </a:pPr>
            <a:r>
              <a:rPr lang="en-US" sz="2400" dirty="0">
                <a:solidFill>
                  <a:srgbClr val="444444"/>
                </a:solidFill>
              </a:rPr>
              <a:t>Live Telemetry: Instantly track active fleet contracts and revenue.</a:t>
            </a:r>
            <a:pPr indent="0" marL="0">
              <a:lnSpc>
                <a:spcPts val="4000"/>
              </a:lnSpc>
              <a:buNone/>
            </a:pPr>
            <a:r>
              <a:rPr lang="en-US" sz="2400" dirty="0">
                <a:solidFill>
                  <a:srgbClr val="444444"/>
                </a:solidFill>
              </a:rPr>
              <a:t>Identity Queue: Verification panel for edge-case ID documents.</a:t>
            </a:r>
            <a:pPr indent="0" marL="0">
              <a:lnSpc>
                <a:spcPts val="4000"/>
              </a:lnSpc>
              <a:buNone/>
            </a:pPr>
            <a:r>
              <a:rPr lang="en-US" sz="2400" dirty="0">
                <a:solidFill>
                  <a:srgbClr val="444444"/>
                </a:solidFill>
              </a:rPr>
              <a:t>Global Overview: Export encrypted CSVs of live transmission relays.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1828800"/>
            <a:ext cx="8229600" cy="0"/>
          </a:xfrm>
          <a:prstGeom prst="rect">
            <a:avLst/>
          </a:prstGeom>
          <a:noFill/>
          <a:ln/>
        </p:spPr>
        <p:txBody>
          <a:bodyPr wrap="square" rtlCol="0" anchor="ctr"/>
          <a:lstStyle/>
          <a:p>
            <a:pPr algn="ctr" indent="0" marL="0">
              <a:buNone/>
            </a:pPr>
            <a:r>
              <a:rPr lang="en-US" sz="5500" b="1" dirty="0">
                <a:solidFill>
                  <a:srgbClr val="FFFFFF"/>
                </a:solidFill>
              </a:rPr>
              <a:t>Live Demonstration</a:t>
            </a:r>
            <a:endParaRPr lang="en-US" sz="5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457200"/>
            <a:ext cx="6858000" cy="0"/>
          </a:xfrm>
          <a:prstGeom prst="rect">
            <a:avLst/>
          </a:prstGeom>
          <a:noFill/>
          <a:ln/>
        </p:spPr>
        <p:txBody>
          <a:bodyPr wrap="square" rtlCol="0" anchor="ctr"/>
          <a:lstStyle/>
          <a:p>
            <a:pPr indent="0" marL="0">
              <a:buNone/>
            </a:pPr>
            <a:r>
              <a:rPr lang="en-US" sz="3600" b="1" dirty="0">
                <a:solidFill>
                  <a:srgbClr val="363636"/>
                </a:solidFill>
              </a:rPr>
              <a:t>Future Roadmap</a:t>
            </a:r>
            <a:endParaRPr lang="en-US" sz="3600" dirty="0"/>
          </a:p>
        </p:txBody>
      </p:sp>
      <p:sp>
        <p:nvSpPr>
          <p:cNvPr id="3" name="Text 1"/>
          <p:cNvSpPr/>
          <p:nvPr/>
        </p:nvSpPr>
        <p:spPr>
          <a:xfrm>
            <a:off x="457200" y="1645920"/>
            <a:ext cx="8229600" cy="0"/>
          </a:xfrm>
          <a:prstGeom prst="rect">
            <a:avLst/>
          </a:prstGeom>
          <a:noFill/>
          <a:ln/>
        </p:spPr>
        <p:txBody>
          <a:bodyPr wrap="square" lIns="190500" tIns="190500" rIns="190500" bIns="190500" rtlCol="0" anchor="ctr"/>
          <a:lstStyle/>
          <a:p>
            <a:pPr marL="342900" indent="-342900">
              <a:lnSpc>
                <a:spcPts val="4000"/>
              </a:lnSpc>
              <a:buSzPct val="100000"/>
              <a:buChar char="•"/>
            </a:pPr>
            <a:r>
              <a:rPr lang="en-US" sz="2400" dirty="0">
                <a:solidFill>
                  <a:srgbClr val="444444"/>
                </a:solidFill>
              </a:rPr>
              <a:t>Integration with external Hardware Tracking APIs.</a:t>
            </a:r>
            <a:pPr indent="0" marL="0">
              <a:lnSpc>
                <a:spcPts val="4000"/>
              </a:lnSpc>
              <a:buNone/>
            </a:pPr>
            <a:r>
              <a:rPr lang="en-US" sz="2400" dirty="0">
                <a:solidFill>
                  <a:srgbClr val="444444"/>
                </a:solidFill>
              </a:rPr>
              <a:t>Automated Drone/Courier dispatch API triggers.</a:t>
            </a:r>
            <a:pPr indent="0" marL="0">
              <a:lnSpc>
                <a:spcPts val="4000"/>
              </a:lnSpc>
              <a:buNone/>
            </a:pPr>
            <a:r>
              <a:rPr lang="en-US" sz="2400" dirty="0">
                <a:solidFill>
                  <a:srgbClr val="444444"/>
                </a:solidFill>
              </a:rPr>
              <a:t>Expansion to Enterprise B2B massive fleet deployments.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6366F1"/>
        </a:solidFill>
      </p:bgPr>
    </p:bg>
    <p:spTree>
      <p:nvGrpSpPr>
        <p:cNvPr id="1" name=""/>
        <p:cNvGrpSpPr/>
        <p:nvPr/>
      </p:nvGrpSpPr>
      <p:grpSpPr>
        <a:xfrm>
          <a:off x="0" y="0"/>
          <a:ext cx="0" cy="0"/>
          <a:chOff x="0" y="0"/>
          <a:chExt cx="0" cy="0"/>
        </a:xfrm>
      </p:grpSpPr>
      <p:sp>
        <p:nvSpPr>
          <p:cNvPr id="2" name="Text 0"/>
          <p:cNvSpPr/>
          <p:nvPr/>
        </p:nvSpPr>
        <p:spPr>
          <a:xfrm>
            <a:off x="457200" y="2011680"/>
            <a:ext cx="8229600" cy="0"/>
          </a:xfrm>
          <a:prstGeom prst="rect">
            <a:avLst/>
          </a:prstGeom>
          <a:noFill/>
          <a:ln/>
        </p:spPr>
        <p:txBody>
          <a:bodyPr wrap="square" rtlCol="0" anchor="ctr"/>
          <a:lstStyle/>
          <a:p>
            <a:pPr algn="ctr" indent="0" marL="0">
              <a:buNone/>
            </a:pPr>
            <a:r>
              <a:rPr lang="en-US" sz="4500" b="1" dirty="0">
                <a:solidFill>
                  <a:srgbClr val="FFFFFF"/>
                </a:solidFill>
              </a:rPr>
              <a:t>Thank You! Floor open for Questions.</a:t>
            </a:r>
            <a:endParaRPr lang="en-US" sz="4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AstraRent Platform Architecture</dc:title>
  <dc:subject>PptxGenJS Presentation</dc:subject>
  <dc:creator>PptxGenJS</dc:creator>
  <cp:lastModifiedBy>PptxGenJS</cp:lastModifiedBy>
  <cp:revision>1</cp:revision>
  <dcterms:created xsi:type="dcterms:W3CDTF">2026-04-19T09:39:48Z</dcterms:created>
  <dcterms:modified xsi:type="dcterms:W3CDTF">2026-04-19T09:39:48Z</dcterms:modified>
</cp:coreProperties>
</file>